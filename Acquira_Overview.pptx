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206240" cy="4206240"/>
          </a:xfrm>
          <a:prstGeom prst="ellipse">
            <a:avLst/>
          </a:prstGeom>
          <a:solidFill>
            <a:srgbClr val="10345C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548640"/>
            <a:ext cx="2194560" cy="2194560"/>
          </a:xfrm>
          <a:prstGeom prst="ellipse">
            <a:avLst/>
          </a:prstGeom>
          <a:ln w="19050">
            <a:solidFill>
              <a:srgbClr val="00C9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0" y="5212080"/>
            <a:ext cx="2926080" cy="2926080"/>
          </a:xfrm>
          <a:prstGeom prst="ellipse">
            <a:avLst/>
          </a:prstGeom>
          <a:solidFill>
            <a:srgbClr val="1034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148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200" kern="0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ACQUIRA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1546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Intelligence Platform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794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transaction files to executive insight — an end-to-end overview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572000"/>
            <a:ext cx="2011680" cy="0"/>
          </a:xfrm>
          <a:prstGeom prst="line">
            <a:avLst/>
          </a:prstGeom>
          <a:noFill/>
          <a:ln w="31750">
            <a:solidFill>
              <a:srgbClr val="00C9A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4754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 ·  UAE · Bahrain · Egypt · Oman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25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Acquira Is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platform that turns acquirer transaction data into priced, reconciled, decision-ready intelligence.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97480" cy="33832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8F0F7"/>
            </a:solidFill>
            <a:prstDash val="solid"/>
          </a:ln>
          <a:effectLst>
            <a:outerShdw sx="100000" sy="100000" kx="0" ky="0" algn="bl" rotWithShape="0" blurRad="101600" dist="38100" dir="5400000">
              <a:srgbClr val="B9C6D4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468880"/>
            <a:ext cx="914400" cy="914400"/>
          </a:xfrm>
          <a:prstGeom prst="ellipse">
            <a:avLst/>
          </a:prstGeom>
          <a:solidFill>
            <a:srgbClr val="0A254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2688336"/>
            <a:ext cx="475488" cy="4754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24871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F0F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35204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5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Ingest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402336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files and scheduled bank-database pulls flow into one governed pipeline.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4992" y="2103120"/>
            <a:ext cx="2697480" cy="33832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8F0F7"/>
            </a:solidFill>
            <a:prstDash val="solid"/>
          </a:ln>
          <a:effectLst>
            <a:outerShdw sx="100000" sy="100000" kx="0" ky="0" algn="bl" rotWithShape="0" blurRad="101600" dist="38100" dir="5400000">
              <a:srgbClr val="B9C6D4">
                <a:alpha val="5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85032" y="246888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4488" y="2688336"/>
            <a:ext cx="475488" cy="47548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193792" y="24871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F0F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3657600" y="35204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5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Price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3657600" y="402336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transaction is priced against country-specific interchange, scheme and merchant fees.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181344" y="2103120"/>
            <a:ext cx="2697480" cy="33832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8F0F7"/>
            </a:solidFill>
            <a:prstDash val="solid"/>
          </a:ln>
          <a:effectLst>
            <a:outerShdw sx="100000" sy="100000" kx="0" ky="0" algn="bl" rotWithShape="0" blurRad="101600" dist="38100" dir="5400000">
              <a:srgbClr val="B9C6D4">
                <a:alpha val="5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501384" y="2468880"/>
            <a:ext cx="914400" cy="914400"/>
          </a:xfrm>
          <a:prstGeom prst="ellipse">
            <a:avLst/>
          </a:prstGeom>
          <a:solidFill>
            <a:srgbClr val="0A254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688336"/>
            <a:ext cx="475488" cy="47548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010144" y="24871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F0F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2400" dirty="0"/>
          </a:p>
        </p:txBody>
      </p:sp>
      <p:sp>
        <p:nvSpPr>
          <p:cNvPr id="20" name="Text 15"/>
          <p:cNvSpPr txBox="1"/>
          <p:nvPr/>
        </p:nvSpPr>
        <p:spPr>
          <a:xfrm>
            <a:off x="6473952" y="35204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5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Analyze</a:t>
            </a:r>
            <a:endParaRPr lang="en-US" sz="2000" dirty="0"/>
          </a:p>
        </p:txBody>
      </p:sp>
      <p:sp>
        <p:nvSpPr>
          <p:cNvPr id="21" name="Text 16"/>
          <p:cNvSpPr txBox="1"/>
          <p:nvPr/>
        </p:nvSpPr>
        <p:spPr>
          <a:xfrm>
            <a:off x="6473952" y="402336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and monthly summaries power executive, merchant and finance dashboards.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8997696" y="2103120"/>
            <a:ext cx="2697480" cy="33832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8F0F7"/>
            </a:solidFill>
            <a:prstDash val="solid"/>
          </a:ln>
          <a:effectLst>
            <a:outerShdw sx="100000" sy="100000" kx="0" ky="0" algn="bl" rotWithShape="0" blurRad="101600" dist="38100" dir="5400000">
              <a:srgbClr val="B9C6D4">
                <a:alpha val="5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317736" y="246888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7192" y="2688336"/>
            <a:ext cx="475488" cy="47548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0826496" y="24871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F0F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04</a:t>
            </a:r>
            <a:endParaRPr lang="en-US" sz="2400" dirty="0"/>
          </a:p>
        </p:txBody>
      </p:sp>
      <p:sp>
        <p:nvSpPr>
          <p:cNvPr id="26" name="Text 20"/>
          <p:cNvSpPr txBox="1"/>
          <p:nvPr/>
        </p:nvSpPr>
        <p:spPr>
          <a:xfrm>
            <a:off x="9290304" y="35204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5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Report</a:t>
            </a:r>
            <a:endParaRPr lang="en-US" sz="2000" dirty="0"/>
          </a:p>
        </p:txBody>
      </p:sp>
      <p:sp>
        <p:nvSpPr>
          <p:cNvPr id="27" name="Text 21"/>
          <p:cNvSpPr txBox="1"/>
          <p:nvPr/>
        </p:nvSpPr>
        <p:spPr>
          <a:xfrm>
            <a:off x="9290304" y="402336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Branded, merchant-specific PDF reports are generated automatically.</a:t>
            </a:r>
            <a:endParaRPr lang="en-US" sz="1250" dirty="0"/>
          </a:p>
        </p:txBody>
      </p:sp>
      <p:sp>
        <p:nvSpPr>
          <p:cNvPr id="28" name="Text 2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Acquira  ·  Payments Intelligence Platform</a:t>
            </a:r>
            <a:endParaRPr lang="en-US" sz="900" dirty="0"/>
          </a:p>
        </p:txBody>
      </p:sp>
      <p:sp>
        <p:nvSpPr>
          <p:cNvPr id="29" name="Text 23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25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Built for Multiple Markets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deployment serves several country tenants, each with its own rules, currency and rate cards — fully isolated from one another.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8F0F7"/>
            </a:solidFill>
            <a:prstDash val="solid"/>
          </a:ln>
          <a:effectLst>
            <a:outerShdw sx="100000" sy="100000" kx="0" ky="0" algn="bl" rotWithShape="0" blurRad="88900" dist="38100" dir="5400000">
              <a:srgbClr val="B9C6D4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532888"/>
            <a:ext cx="1143000" cy="822960"/>
          </a:xfrm>
          <a:prstGeom prst="roundRect">
            <a:avLst>
              <a:gd name="adj" fmla="val 6667"/>
            </a:avLst>
          </a:prstGeom>
          <a:solidFill>
            <a:srgbClr val="0A254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253288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9A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AED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53288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5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United Arab Emirates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2194560" y="299008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week Sat–Sun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214884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8F0F7"/>
            </a:solidFill>
            <a:prstDash val="solid"/>
          </a:ln>
          <a:effectLst>
            <a:outerShdw sx="100000" sy="100000" kx="0" ky="0" algn="bl" rotWithShape="0" blurRad="88900" dist="38100" dir="5400000">
              <a:srgbClr val="B9C6D4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64808" y="2532888"/>
            <a:ext cx="1143000" cy="822960"/>
          </a:xfrm>
          <a:prstGeom prst="roundRect">
            <a:avLst>
              <a:gd name="adj" fmla="val 6667"/>
            </a:avLst>
          </a:prstGeom>
          <a:solidFill>
            <a:srgbClr val="0A254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64808" y="253288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9A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BHD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818120" y="253288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5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Bahrain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7818120" y="299008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local scheme + tiered cards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8F0F7"/>
            </a:solidFill>
            <a:prstDash val="solid"/>
          </a:ln>
          <a:effectLst>
            <a:outerShdw sx="100000" sy="100000" kx="0" ky="0" algn="bl" rotWithShape="0" blurRad="88900" dist="38100" dir="5400000">
              <a:srgbClr val="B9C6D4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" y="4361688"/>
            <a:ext cx="1143000" cy="822960"/>
          </a:xfrm>
          <a:prstGeom prst="roundRect">
            <a:avLst>
              <a:gd name="adj" fmla="val 6667"/>
            </a:avLst>
          </a:prstGeom>
          <a:solidFill>
            <a:srgbClr val="0A254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1248" y="436168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9A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EGP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2194560" y="436168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5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Egypt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2194560" y="481888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 interchange manual pricing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72200" y="397764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8F0F7"/>
            </a:solidFill>
            <a:prstDash val="solid"/>
          </a:ln>
          <a:effectLst>
            <a:outerShdw sx="100000" sy="100000" kx="0" ky="0" algn="bl" rotWithShape="0" blurRad="88900" dist="38100" dir="5400000">
              <a:srgbClr val="B9C6D4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64808" y="4361688"/>
            <a:ext cx="1143000" cy="822960"/>
          </a:xfrm>
          <a:prstGeom prst="roundRect">
            <a:avLst>
              <a:gd name="adj" fmla="val 6667"/>
            </a:avLst>
          </a:prstGeom>
          <a:solidFill>
            <a:srgbClr val="0A254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64808" y="436168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9A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OMR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7818120" y="436168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5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Oman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7818120" y="481888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rate cards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Acquira  ·  Payments Intelligence Platform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End-to-End Journey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transaction moves from a raw file to an insight on a screen.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121408" y="3520440"/>
            <a:ext cx="325526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dash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548640" y="2651760"/>
            <a:ext cx="1572768" cy="2148840"/>
          </a:xfrm>
          <a:prstGeom prst="roundRect">
            <a:avLst>
              <a:gd name="adj" fmla="val 5814"/>
            </a:avLst>
          </a:prstGeom>
          <a:solidFill>
            <a:srgbClr val="10345C"/>
          </a:solidFill>
          <a:ln w="12700">
            <a:solidFill>
              <a:srgbClr val="1E43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" y="2926080"/>
            <a:ext cx="914400" cy="914400"/>
          </a:xfrm>
          <a:prstGeom prst="ellipse">
            <a:avLst/>
          </a:prstGeom>
          <a:solidFill>
            <a:srgbClr val="00C9A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3145536"/>
            <a:ext cx="475488" cy="47548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395020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Ingest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4315968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&amp; DB pulls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019702" y="3520440"/>
            <a:ext cx="325526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dash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446934" y="2651760"/>
            <a:ext cx="1572768" cy="2148840"/>
          </a:xfrm>
          <a:prstGeom prst="roundRect">
            <a:avLst>
              <a:gd name="adj" fmla="val 5814"/>
            </a:avLst>
          </a:prstGeom>
          <a:solidFill>
            <a:srgbClr val="10345C"/>
          </a:solidFill>
          <a:ln w="12700">
            <a:solidFill>
              <a:srgbClr val="1E436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776118" y="2926080"/>
            <a:ext cx="914400" cy="914400"/>
          </a:xfrm>
          <a:prstGeom prst="ellipse">
            <a:avLst/>
          </a:prstGeom>
          <a:solidFill>
            <a:srgbClr val="00C9A7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5574" y="3145536"/>
            <a:ext cx="475488" cy="47548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446934" y="395020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Stage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2538374" y="4315968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&amp; isolated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917997" y="3520440"/>
            <a:ext cx="325526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dash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4345229" y="2651760"/>
            <a:ext cx="1572768" cy="2148840"/>
          </a:xfrm>
          <a:prstGeom prst="roundRect">
            <a:avLst>
              <a:gd name="adj" fmla="val 5814"/>
            </a:avLst>
          </a:prstGeom>
          <a:solidFill>
            <a:srgbClr val="10345C"/>
          </a:solidFill>
          <a:ln w="12700">
            <a:solidFill>
              <a:srgbClr val="1E4368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674413" y="2926080"/>
            <a:ext cx="914400" cy="914400"/>
          </a:xfrm>
          <a:prstGeom prst="ellipse">
            <a:avLst/>
          </a:prstGeom>
          <a:solidFill>
            <a:srgbClr val="00C9A7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3869" y="3145536"/>
            <a:ext cx="475488" cy="47548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345229" y="395020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Price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4436669" y="4315968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 applied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7816291" y="3520440"/>
            <a:ext cx="325526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dash"/>
            <a:tailEnd type="triangle"/>
          </a:ln>
        </p:spPr>
      </p:sp>
      <p:sp>
        <p:nvSpPr>
          <p:cNvPr id="23" name="Shape 18"/>
          <p:cNvSpPr/>
          <p:nvPr/>
        </p:nvSpPr>
        <p:spPr>
          <a:xfrm>
            <a:off x="6243523" y="2651760"/>
            <a:ext cx="1572768" cy="2148840"/>
          </a:xfrm>
          <a:prstGeom prst="roundRect">
            <a:avLst>
              <a:gd name="adj" fmla="val 5814"/>
            </a:avLst>
          </a:prstGeom>
          <a:solidFill>
            <a:srgbClr val="10345C"/>
          </a:solidFill>
          <a:ln w="12700">
            <a:solidFill>
              <a:srgbClr val="1E4368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572707" y="2926080"/>
            <a:ext cx="914400" cy="914400"/>
          </a:xfrm>
          <a:prstGeom prst="ellipse">
            <a:avLst/>
          </a:prstGeom>
          <a:solidFill>
            <a:srgbClr val="00C9A7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2163" y="3145536"/>
            <a:ext cx="475488" cy="475488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243523" y="395020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Summarize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6334963" y="4315968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/ monthly rollups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9714586" y="3520440"/>
            <a:ext cx="325526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dash"/>
            <a:tailEnd type="triangle"/>
          </a:ln>
        </p:spPr>
      </p:sp>
      <p:sp>
        <p:nvSpPr>
          <p:cNvPr id="29" name="Shape 23"/>
          <p:cNvSpPr/>
          <p:nvPr/>
        </p:nvSpPr>
        <p:spPr>
          <a:xfrm>
            <a:off x="8141818" y="2651760"/>
            <a:ext cx="1572768" cy="2148840"/>
          </a:xfrm>
          <a:prstGeom prst="roundRect">
            <a:avLst>
              <a:gd name="adj" fmla="val 5814"/>
            </a:avLst>
          </a:prstGeom>
          <a:solidFill>
            <a:srgbClr val="10345C"/>
          </a:solidFill>
          <a:ln w="12700">
            <a:solidFill>
              <a:srgbClr val="1E4368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8471002" y="2926080"/>
            <a:ext cx="914400" cy="914400"/>
          </a:xfrm>
          <a:prstGeom prst="ellipse">
            <a:avLst/>
          </a:prstGeom>
          <a:solidFill>
            <a:srgbClr val="00C9A7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0458" y="3145536"/>
            <a:ext cx="475488" cy="475488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8141818" y="395020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Visualize</a:t>
            </a:r>
            <a:endParaRPr lang="en-US" sz="1600" dirty="0"/>
          </a:p>
        </p:txBody>
      </p:sp>
      <p:sp>
        <p:nvSpPr>
          <p:cNvPr id="33" name="Text 26"/>
          <p:cNvSpPr txBox="1"/>
          <p:nvPr/>
        </p:nvSpPr>
        <p:spPr>
          <a:xfrm>
            <a:off x="8233258" y="4315968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10040112" y="2651760"/>
            <a:ext cx="1572768" cy="2148840"/>
          </a:xfrm>
          <a:prstGeom prst="roundRect">
            <a:avLst>
              <a:gd name="adj" fmla="val 5814"/>
            </a:avLst>
          </a:prstGeom>
          <a:solidFill>
            <a:srgbClr val="10345C"/>
          </a:solidFill>
          <a:ln w="12700">
            <a:solidFill>
              <a:srgbClr val="1E4368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10369296" y="2926080"/>
            <a:ext cx="914400" cy="914400"/>
          </a:xfrm>
          <a:prstGeom prst="ellipse">
            <a:avLst/>
          </a:prstGeom>
          <a:solidFill>
            <a:srgbClr val="00C9A7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88752" y="3145536"/>
            <a:ext cx="475488" cy="475488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10040112" y="395020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Report</a:t>
            </a:r>
            <a:endParaRPr lang="en-US" sz="1600" dirty="0"/>
          </a:p>
        </p:txBody>
      </p:sp>
      <p:sp>
        <p:nvSpPr>
          <p:cNvPr id="38" name="Text 30"/>
          <p:cNvSpPr txBox="1"/>
          <p:nvPr/>
        </p:nvSpPr>
        <p:spPr>
          <a:xfrm>
            <a:off x="10131552" y="4315968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PDFs</a:t>
            </a:r>
            <a:endParaRPr lang="en-US" sz="1100" dirty="0"/>
          </a:p>
        </p:txBody>
      </p:sp>
      <p:sp>
        <p:nvSpPr>
          <p:cNvPr id="39" name="Text 31"/>
          <p:cNvSpPr txBox="1"/>
          <p:nvPr/>
        </p:nvSpPr>
        <p:spPr>
          <a:xfrm>
            <a:off x="548640" y="5212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is tracked and reconciled — no silent data loss between file and dashboard.</a:t>
            </a:r>
            <a:endParaRPr lang="en-US" sz="1400" dirty="0"/>
          </a:p>
        </p:txBody>
      </p:sp>
      <p:sp>
        <p:nvSpPr>
          <p:cNvPr id="40" name="Text 3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Acquira  ·  Payments Intelligence Platform</a:t>
            </a:r>
            <a:endParaRPr lang="en-US" sz="900" dirty="0"/>
          </a:p>
        </p:txBody>
      </p:sp>
      <p:sp>
        <p:nvSpPr>
          <p:cNvPr id="41" name="Text 33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25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Getting Data In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paths into the platform, both flowing into the same governed pipeline.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9496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8F0F7"/>
            </a:solidFill>
            <a:prstDash val="solid"/>
          </a:ln>
          <a:effectLst>
            <a:outerShdw sx="100000" sy="100000" kx="0" ky="0" algn="bl" rotWithShape="0" blurRad="101600" dist="38100" dir="5400000">
              <a:srgbClr val="B9C6D4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468880"/>
            <a:ext cx="1005840" cy="1005840"/>
          </a:xfrm>
          <a:prstGeom prst="ellipse">
            <a:avLst/>
          </a:prstGeom>
          <a:solidFill>
            <a:srgbClr val="0A254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5802" y="2710282"/>
            <a:ext cx="523037" cy="52303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103120" y="26060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25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Merchant file uploads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3703320"/>
            <a:ext cx="4480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&amp; CSV files per merchant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format &amp; column detection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upload isolated by its own run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172200" y="2103120"/>
            <a:ext cx="539496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8F0F7"/>
            </a:solidFill>
            <a:prstDash val="solid"/>
          </a:ln>
          <a:effectLst>
            <a:outerShdw sx="100000" sy="100000" kx="0" ky="0" algn="bl" rotWithShape="0" blurRad="101600" dist="38100" dir="5400000">
              <a:srgbClr val="B9C6D4">
                <a:alpha val="4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246888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9362" y="2710282"/>
            <a:ext cx="523037" cy="52303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726680" y="26060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25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Scheduled database pulls</a:t>
            </a:r>
            <a:endParaRPr lang="en-US" sz="2100" dirty="0"/>
          </a:p>
        </p:txBody>
      </p:sp>
      <p:sp>
        <p:nvSpPr>
          <p:cNvPr id="13" name="Text 9"/>
          <p:cNvSpPr txBox="1"/>
          <p:nvPr/>
        </p:nvSpPr>
        <p:spPr>
          <a:xfrm>
            <a:off x="6675120" y="3703320"/>
            <a:ext cx="4480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feeds from bank systems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MSSQL, Oracle &amp; Postgres sources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 schedule, unattended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Acquira  ·  Payments Intelligence Platform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25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Pricing Engine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Acquira reprices every transaction using authoritative, country-specific rate cards.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8F0F7"/>
            </a:solidFill>
            <a:prstDash val="solid"/>
          </a:ln>
          <a:effectLst>
            <a:outerShdw sx="100000" sy="100000" kx="0" ky="0" algn="bl" rotWithShape="0" blurRad="88900" dist="38100" dir="5400000">
              <a:srgbClr val="B9C6D4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514600"/>
            <a:ext cx="868680" cy="868680"/>
          </a:xfrm>
          <a:prstGeom prst="ellipse">
            <a:avLst/>
          </a:prstGeom>
          <a:solidFill>
            <a:srgbClr val="0A254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163" y="2723083"/>
            <a:ext cx="451714" cy="45171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65960" y="240487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Interchange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965960" y="283464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Card-scheme interchange by product tier, channel and country manual.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72200" y="214884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8F0F7"/>
            </a:solidFill>
            <a:prstDash val="solid"/>
          </a:ln>
          <a:effectLst>
            <a:outerShdw sx="100000" sy="100000" kx="0" ky="0" algn="bl" rotWithShape="0" blurRad="88900" dist="38100" dir="5400000">
              <a:srgbClr val="B9C6D4">
                <a:alpha val="4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251460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0723" y="2723083"/>
            <a:ext cx="451714" cy="45171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589520" y="240487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Scheme fees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7589520" y="283464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assessment and processing fees layered per scheme.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93192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8F0F7"/>
            </a:solidFill>
            <a:prstDash val="solid"/>
          </a:ln>
          <a:effectLst>
            <a:outerShdw sx="100000" sy="100000" kx="0" ky="0" algn="bl" rotWithShape="0" blurRad="88900" dist="38100" dir="5400000">
              <a:srgbClr val="B9C6D4">
                <a:alpha val="4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0A254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63" y="4506163"/>
            <a:ext cx="451714" cy="45171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965960" y="418795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Merchant fees (MSF)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1965960" y="46177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merchant service charge, netted and reconciled.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72200" y="393192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8F0F7"/>
            </a:solidFill>
            <a:prstDash val="solid"/>
          </a:ln>
          <a:effectLst>
            <a:outerShdw sx="100000" sy="100000" kx="0" ky="0" algn="bl" rotWithShape="0" blurRad="88900" dist="38100" dir="5400000">
              <a:srgbClr val="B9C6D4">
                <a:alpha val="4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429768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0723" y="4506163"/>
            <a:ext cx="451714" cy="45171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589520" y="418795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Reprice on change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7589520" y="46177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 rate card and Acquira re-prices history, then rebuilds summaries.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Acquira  ·  Payments Intelligence Platform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25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Dashboards for Every Question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suite of purpose-built views, from boardroom summaries to portfolio deep-dives.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65176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8F0F7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4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404872"/>
            <a:ext cx="731520" cy="731520"/>
          </a:xfrm>
          <a:prstGeom prst="ellipse">
            <a:avLst/>
          </a:prstGeom>
          <a:solidFill>
            <a:srgbClr val="0A254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0237" y="2580437"/>
            <a:ext cx="380390" cy="38039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24231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25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Executive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317296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volumes, revenue and trends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19272" y="2148840"/>
            <a:ext cx="265176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8F0F7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4">
                <a:alpha val="4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75304" y="2404872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0869" y="2580437"/>
            <a:ext cx="380390" cy="38039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16552" y="24231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25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Merchant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3575304" y="317296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Per-merchant performance &amp; activity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89904" y="2148840"/>
            <a:ext cx="265176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8F0F7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4">
                <a:alpha val="4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45936" y="2404872"/>
            <a:ext cx="731520" cy="731520"/>
          </a:xfrm>
          <a:prstGeom prst="ellipse">
            <a:avLst/>
          </a:prstGeom>
          <a:solidFill>
            <a:srgbClr val="0A254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1501" y="2580437"/>
            <a:ext cx="380390" cy="38039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187184" y="24231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25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Destination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6345936" y="317296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spend is going, by geography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860536" y="2148840"/>
            <a:ext cx="265176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8F0F7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4">
                <a:alpha val="4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16568" y="2404872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2133" y="2580437"/>
            <a:ext cx="380390" cy="38039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957816" y="24231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25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Card Type</a:t>
            </a:r>
            <a:endParaRPr lang="en-US" sz="1550" dirty="0"/>
          </a:p>
        </p:txBody>
      </p:sp>
      <p:sp>
        <p:nvSpPr>
          <p:cNvPr id="23" name="Text 17"/>
          <p:cNvSpPr txBox="1"/>
          <p:nvPr/>
        </p:nvSpPr>
        <p:spPr>
          <a:xfrm>
            <a:off x="9116568" y="317296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Credit, debit, prepaid &amp; scheme mix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48640" y="3913632"/>
            <a:ext cx="265176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8F0F7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4">
                <a:alpha val="4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04672" y="4169664"/>
            <a:ext cx="731520" cy="731520"/>
          </a:xfrm>
          <a:prstGeom prst="ellipse">
            <a:avLst/>
          </a:prstGeom>
          <a:solidFill>
            <a:srgbClr val="0A2540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237" y="4345229"/>
            <a:ext cx="380390" cy="38039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645920" y="4187952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25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Local Debit Bank</a:t>
            </a:r>
            <a:endParaRPr lang="en-US" sz="1550" dirty="0"/>
          </a:p>
        </p:txBody>
      </p:sp>
      <p:sp>
        <p:nvSpPr>
          <p:cNvPr id="28" name="Text 21"/>
          <p:cNvSpPr txBox="1"/>
          <p:nvPr/>
        </p:nvSpPr>
        <p:spPr>
          <a:xfrm>
            <a:off x="804672" y="49377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 / BIN-level bank view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3319272" y="3913632"/>
            <a:ext cx="265176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8F0F7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4">
                <a:alpha val="4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575304" y="4169664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0869" y="4345229"/>
            <a:ext cx="380390" cy="38039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4416552" y="4187952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25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Finance Summary</a:t>
            </a:r>
            <a:endParaRPr lang="en-US" sz="1550" dirty="0"/>
          </a:p>
        </p:txBody>
      </p:sp>
      <p:sp>
        <p:nvSpPr>
          <p:cNvPr id="33" name="Text 25"/>
          <p:cNvSpPr txBox="1"/>
          <p:nvPr/>
        </p:nvSpPr>
        <p:spPr>
          <a:xfrm>
            <a:off x="3575304" y="49377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stack, netting &amp; rollups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6089904" y="3913632"/>
            <a:ext cx="265176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8F0F7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4">
                <a:alpha val="40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345936" y="4169664"/>
            <a:ext cx="731520" cy="731520"/>
          </a:xfrm>
          <a:prstGeom prst="ellipse">
            <a:avLst/>
          </a:prstGeom>
          <a:solidFill>
            <a:srgbClr val="0A2540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1501" y="4345229"/>
            <a:ext cx="380390" cy="380390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7187184" y="4187952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25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Attrition</a:t>
            </a:r>
            <a:endParaRPr lang="en-US" sz="1550" dirty="0"/>
          </a:p>
        </p:txBody>
      </p:sp>
      <p:sp>
        <p:nvSpPr>
          <p:cNvPr id="38" name="Text 29"/>
          <p:cNvSpPr txBox="1"/>
          <p:nvPr/>
        </p:nvSpPr>
        <p:spPr>
          <a:xfrm>
            <a:off x="6345936" y="49377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churn &amp; lifecycle status</a:t>
            </a:r>
            <a:endParaRPr lang="en-US" sz="1100" dirty="0"/>
          </a:p>
        </p:txBody>
      </p:sp>
      <p:sp>
        <p:nvSpPr>
          <p:cNvPr id="39" name="Shape 30"/>
          <p:cNvSpPr/>
          <p:nvPr/>
        </p:nvSpPr>
        <p:spPr>
          <a:xfrm>
            <a:off x="8860536" y="3913632"/>
            <a:ext cx="265176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8F0F7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4">
                <a:alpha val="40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9116568" y="4169664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2133" y="4345229"/>
            <a:ext cx="380390" cy="380390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9957816" y="4187952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25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Daily Merchant</a:t>
            </a:r>
            <a:endParaRPr lang="en-US" sz="1550" dirty="0"/>
          </a:p>
        </p:txBody>
      </p:sp>
      <p:sp>
        <p:nvSpPr>
          <p:cNvPr id="43" name="Text 33"/>
          <p:cNvSpPr txBox="1"/>
          <p:nvPr/>
        </p:nvSpPr>
        <p:spPr>
          <a:xfrm>
            <a:off x="9116568" y="49377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Day-by-day merchant movement</a:t>
            </a:r>
            <a:endParaRPr lang="en-US" sz="1100" dirty="0"/>
          </a:p>
        </p:txBody>
      </p:sp>
      <p:sp>
        <p:nvSpPr>
          <p:cNvPr id="44" name="Text 3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Acquira  ·  Payments Intelligence Platform</a:t>
            </a:r>
            <a:endParaRPr lang="en-US" sz="900" dirty="0"/>
          </a:p>
        </p:txBody>
      </p:sp>
      <p:sp>
        <p:nvSpPr>
          <p:cNvPr id="45" name="Text 35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25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Automated Merchant Reports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Board-ready PDF statements generated on demand — one per merchant, correctly addressed every time.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240280"/>
            <a:ext cx="6766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8F0F7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4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395728"/>
            <a:ext cx="731520" cy="731520"/>
          </a:xfrm>
          <a:prstGeom prst="ellipse">
            <a:avLst/>
          </a:prstGeom>
          <a:solidFill>
            <a:srgbClr val="0A254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2571293"/>
            <a:ext cx="380390" cy="38039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2423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Rendered like the live dashboards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691640" y="27889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and tables mirror what teams see on screen.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3474720"/>
            <a:ext cx="6766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8F0F7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4">
                <a:alpha val="4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22960" y="3630168"/>
            <a:ext cx="731520" cy="731520"/>
          </a:xfrm>
          <a:prstGeom prst="ellipse">
            <a:avLst/>
          </a:prstGeom>
          <a:solidFill>
            <a:srgbClr val="0A254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25" y="3805733"/>
            <a:ext cx="380390" cy="38039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691640" y="3657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Keyed to the merchant ID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1691640" y="40233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report is bound to its merchant — never mixed up.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709160"/>
            <a:ext cx="6766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8F0F7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4">
                <a:alpha val="4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864608"/>
            <a:ext cx="731520" cy="731520"/>
          </a:xfrm>
          <a:prstGeom prst="ellipse">
            <a:avLst/>
          </a:prstGeom>
          <a:solidFill>
            <a:srgbClr val="0A254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525" y="5040173"/>
            <a:ext cx="380390" cy="38039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91640" y="4892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Generated automatically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1691640" y="52578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jobs produce reports without manual assembly.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7772400" y="2240280"/>
            <a:ext cx="3840480" cy="3703320"/>
          </a:xfrm>
          <a:prstGeom prst="roundRect">
            <a:avLst>
              <a:gd name="adj" fmla="val 2469"/>
            </a:avLst>
          </a:prstGeom>
          <a:solidFill>
            <a:srgbClr val="0A2540"/>
          </a:solidFill>
          <a:ln/>
          <a:effectLst>
            <a:outerShdw sx="100000" sy="100000" kx="0" ky="0" algn="bl" rotWithShape="0" blurRad="127000" dist="50800" dir="5400000">
              <a:srgbClr val="8fa3b5">
                <a:alpha val="50000"/>
              </a:srgbClr>
            </a:outerShdw>
          </a:effectLst>
        </p:spPr>
      </p:sp>
      <p:sp>
        <p:nvSpPr>
          <p:cNvPr id="20" name="Text 15"/>
          <p:cNvSpPr txBox="1"/>
          <p:nvPr/>
        </p:nvSpPr>
        <p:spPr>
          <a:xfrm>
            <a:off x="8001000" y="2514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STATEMENT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8001000" y="28346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· 4471 0092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8001000" y="3291840"/>
            <a:ext cx="3383280" cy="713232"/>
          </a:xfrm>
          <a:prstGeom prst="roundRect">
            <a:avLst>
              <a:gd name="adj" fmla="val 6410"/>
            </a:avLst>
          </a:prstGeom>
          <a:solidFill>
            <a:srgbClr val="10345C"/>
          </a:solidFill>
          <a:ln/>
        </p:spPr>
      </p:sp>
      <p:sp>
        <p:nvSpPr>
          <p:cNvPr id="23" name="Shape 18"/>
          <p:cNvSpPr/>
          <p:nvPr/>
        </p:nvSpPr>
        <p:spPr>
          <a:xfrm>
            <a:off x="8183880" y="3429000"/>
            <a:ext cx="1737360" cy="14630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4" name="Shape 19"/>
          <p:cNvSpPr/>
          <p:nvPr/>
        </p:nvSpPr>
        <p:spPr>
          <a:xfrm>
            <a:off x="8183880" y="3675888"/>
            <a:ext cx="2743200" cy="109728"/>
          </a:xfrm>
          <a:prstGeom prst="rect">
            <a:avLst/>
          </a:prstGeom>
          <a:solidFill>
            <a:srgbClr val="27506F"/>
          </a:solidFill>
          <a:ln/>
        </p:spPr>
      </p:sp>
      <p:sp>
        <p:nvSpPr>
          <p:cNvPr id="25" name="Shape 20"/>
          <p:cNvSpPr/>
          <p:nvPr/>
        </p:nvSpPr>
        <p:spPr>
          <a:xfrm>
            <a:off x="8001000" y="4160520"/>
            <a:ext cx="3383280" cy="713232"/>
          </a:xfrm>
          <a:prstGeom prst="roundRect">
            <a:avLst>
              <a:gd name="adj" fmla="val 6410"/>
            </a:avLst>
          </a:prstGeom>
          <a:solidFill>
            <a:srgbClr val="10345C"/>
          </a:solidFill>
          <a:ln/>
        </p:spPr>
      </p:sp>
      <p:sp>
        <p:nvSpPr>
          <p:cNvPr id="26" name="Shape 21"/>
          <p:cNvSpPr/>
          <p:nvPr/>
        </p:nvSpPr>
        <p:spPr>
          <a:xfrm>
            <a:off x="8183880" y="4297680"/>
            <a:ext cx="1737360" cy="14630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Shape 22"/>
          <p:cNvSpPr/>
          <p:nvPr/>
        </p:nvSpPr>
        <p:spPr>
          <a:xfrm>
            <a:off x="8183880" y="4544568"/>
            <a:ext cx="2377440" cy="109728"/>
          </a:xfrm>
          <a:prstGeom prst="rect">
            <a:avLst/>
          </a:prstGeom>
          <a:solidFill>
            <a:srgbClr val="27506F"/>
          </a:solidFill>
          <a:ln/>
        </p:spPr>
      </p:sp>
      <p:sp>
        <p:nvSpPr>
          <p:cNvPr id="28" name="Shape 23"/>
          <p:cNvSpPr/>
          <p:nvPr/>
        </p:nvSpPr>
        <p:spPr>
          <a:xfrm>
            <a:off x="8001000" y="5029200"/>
            <a:ext cx="3383280" cy="713232"/>
          </a:xfrm>
          <a:prstGeom prst="roundRect">
            <a:avLst>
              <a:gd name="adj" fmla="val 6410"/>
            </a:avLst>
          </a:prstGeom>
          <a:solidFill>
            <a:srgbClr val="10345C"/>
          </a:solidFill>
          <a:ln/>
        </p:spPr>
      </p:sp>
      <p:sp>
        <p:nvSpPr>
          <p:cNvPr id="29" name="Shape 24"/>
          <p:cNvSpPr/>
          <p:nvPr/>
        </p:nvSpPr>
        <p:spPr>
          <a:xfrm>
            <a:off x="8183880" y="5166360"/>
            <a:ext cx="1737360" cy="14630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0" name="Shape 25"/>
          <p:cNvSpPr/>
          <p:nvPr/>
        </p:nvSpPr>
        <p:spPr>
          <a:xfrm>
            <a:off x="8183880" y="5413248"/>
            <a:ext cx="2011680" cy="109728"/>
          </a:xfrm>
          <a:prstGeom prst="rect">
            <a:avLst/>
          </a:prstGeom>
          <a:solidFill>
            <a:srgbClr val="27506F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Acquira  ·  Payments Intelligence Platform</a:t>
            </a:r>
            <a:endParaRPr lang="en-US" sz="900" dirty="0"/>
          </a:p>
        </p:txBody>
      </p:sp>
      <p:sp>
        <p:nvSpPr>
          <p:cNvPr id="32" name="Text 27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25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Trusted &amp; Separated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customer's data stays its own — and the numbers can be trusted end to end.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8F0F7"/>
            </a:solidFill>
            <a:prstDash val="solid"/>
          </a:ln>
          <a:effectLst>
            <a:outerShdw sx="100000" sy="100000" kx="0" ky="0" algn="bl" rotWithShape="0" blurRad="88900" dist="38100" dir="5400000">
              <a:srgbClr val="B9C6D4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514600"/>
            <a:ext cx="868680" cy="868680"/>
          </a:xfrm>
          <a:prstGeom prst="ellipse">
            <a:avLst/>
          </a:prstGeom>
          <a:solidFill>
            <a:srgbClr val="0A254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163" y="2723083"/>
            <a:ext cx="451714" cy="45171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65960" y="240487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Tenant isolation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965960" y="283464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 is scoped to its own tenant — no cross-customer leakage.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72200" y="214884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8F0F7"/>
            </a:solidFill>
            <a:prstDash val="solid"/>
          </a:ln>
          <a:effectLst>
            <a:outerShdw sx="100000" sy="100000" kx="0" ky="0" algn="bl" rotWithShape="0" blurRad="88900" dist="38100" dir="5400000">
              <a:srgbClr val="B9C6D4">
                <a:alpha val="4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251460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0723" y="2723083"/>
            <a:ext cx="451714" cy="45171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589520" y="240487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Secure access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7589520" y="283464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permissions with optional two-factor sign-in.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93192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8F0F7"/>
            </a:solidFill>
            <a:prstDash val="solid"/>
          </a:ln>
          <a:effectLst>
            <a:outerShdw sx="100000" sy="100000" kx="0" ky="0" algn="bl" rotWithShape="0" blurRad="88900" dist="38100" dir="5400000">
              <a:srgbClr val="B9C6D4">
                <a:alpha val="4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0A254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63" y="4506163"/>
            <a:ext cx="451714" cy="45171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965960" y="418795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Reconciled ingest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1965960" y="46177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trust ledger verifies that what went in matches what was loaded.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72200" y="393192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8F0F7"/>
            </a:solidFill>
            <a:prstDash val="solid"/>
          </a:ln>
          <a:effectLst>
            <a:outerShdw sx="100000" sy="100000" kx="0" ky="0" algn="bl" rotWithShape="0" blurRad="88900" dist="38100" dir="5400000">
              <a:srgbClr val="B9C6D4">
                <a:alpha val="4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429768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0723" y="4506163"/>
            <a:ext cx="451714" cy="45171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589520" y="418795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Currency-aware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7589520" y="46177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currency per tenant, with an executive USD view on demand.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Acquira  ·  Payments Intelligence Platform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Under the Hood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cloud-native foundations built to scale with transaction volume.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10345C"/>
          </a:solidFill>
          <a:ln w="12700">
            <a:solidFill>
              <a:srgbClr val="1E436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2743200"/>
            <a:ext cx="1005840" cy="1005840"/>
          </a:xfrm>
          <a:prstGeom prst="ellipse">
            <a:avLst/>
          </a:prstGeom>
          <a:solidFill>
            <a:srgbClr val="00C9A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3002" y="2984602"/>
            <a:ext cx="523037" cy="52303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39319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Java / Spring Boot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45720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Core, batch and reporting services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37560" y="233172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10345C"/>
          </a:solidFill>
          <a:ln w="12700">
            <a:solidFill>
              <a:srgbClr val="1E436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160520" y="2743200"/>
            <a:ext cx="1005840" cy="1005840"/>
          </a:xfrm>
          <a:prstGeom prst="ellipse">
            <a:avLst/>
          </a:prstGeom>
          <a:solidFill>
            <a:srgbClr val="00C9A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1922" y="2984602"/>
            <a:ext cx="523037" cy="52303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74720" y="39319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React front end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3520440" y="45720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interactive dashboards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26480" y="233172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10345C"/>
          </a:solidFill>
          <a:ln w="12700">
            <a:solidFill>
              <a:srgbClr val="1E436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949440" y="2743200"/>
            <a:ext cx="1005840" cy="1005840"/>
          </a:xfrm>
          <a:prstGeom prst="ellipse">
            <a:avLst/>
          </a:prstGeom>
          <a:solidFill>
            <a:srgbClr val="00C9A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0842" y="2984602"/>
            <a:ext cx="523037" cy="52303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263640" y="39319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PostgreSQL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6309360" y="45720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Partitioned transaction &amp; summary store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915400" y="233172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10345C"/>
          </a:solidFill>
          <a:ln w="12700">
            <a:solidFill>
              <a:srgbClr val="1E436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738360" y="2743200"/>
            <a:ext cx="1005840" cy="1005840"/>
          </a:xfrm>
          <a:prstGeom prst="ellipse">
            <a:avLst/>
          </a:prstGeom>
          <a:solidFill>
            <a:srgbClr val="00C9A7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9762" y="2984602"/>
            <a:ext cx="523037" cy="52303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052560" y="39319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Kubernetes on AWS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9098280" y="45720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Scalable, resilient deployment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Acquira  ·  Payments Intelligence Platform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4206240"/>
            <a:ext cx="4023360" cy="4023360"/>
          </a:xfrm>
          <a:prstGeom prst="ellipse">
            <a:avLst/>
          </a:prstGeom>
          <a:solidFill>
            <a:srgbClr val="10345C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1371600"/>
            <a:ext cx="3840480" cy="3840480"/>
          </a:xfrm>
          <a:prstGeom prst="ellipse">
            <a:avLst/>
          </a:prstGeom>
          <a:solidFill>
            <a:srgbClr val="10345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23317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platform, from file to insight.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38328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Acquira ingests, prices, reconciles and presents payment data — so every market, merchant and metric is one trusted source of truth.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60120" y="4526280"/>
            <a:ext cx="2011680" cy="0"/>
          </a:xfrm>
          <a:prstGeom prst="line">
            <a:avLst/>
          </a:prstGeom>
          <a:noFill/>
          <a:ln w="31750">
            <a:solidFill>
              <a:srgbClr val="00C9A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4709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ACQUIRA  ·  Payments Intelligence Platform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2026-08-29T20:26:29Z</dcterms:created>
  <dcterms:modified xsi:type="dcterms:W3CDTF">2026-08-29T20:26:29Z</dcterms:modified>
</cp:coreProperties>
</file>